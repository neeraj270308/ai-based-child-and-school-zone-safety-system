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5A993-3C92-4F9F-BD32-35BA6F21821A}" v="114" dt="2026-02-07T04:44:26.696"/>
    <p1510:client id="{96BC56AF-D173-4020-9564-317C51370784}" v="364" dt="2026-02-07T06:38:33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KL UNIVERSITY</a:t>
            </a:r>
            <a:br>
              <a:rPr lang="en-US" dirty="0"/>
            </a:br>
            <a:r>
              <a:rPr lang="en-US" dirty="0"/>
              <a:t>(ALGOMATH-DATATHON)</a:t>
            </a:r>
            <a:br>
              <a:rPr lang="en-US" dirty="0"/>
            </a:br>
            <a:r>
              <a:rPr lang="en-US" dirty="0"/>
              <a:t>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33876"/>
            <a:ext cx="9144000" cy="13239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/>
              <a:t>REVIEW-1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5D00E-7D38-9D6C-18FB-BC4A556CC011}"/>
              </a:ext>
            </a:extLst>
          </p:cNvPr>
          <p:cNvSpPr txBox="1"/>
          <p:nvPr/>
        </p:nvSpPr>
        <p:spPr>
          <a:xfrm>
            <a:off x="1345790" y="5168081"/>
            <a:ext cx="9500418" cy="9663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/>
              <a:t>TEAM-15</a:t>
            </a:r>
          </a:p>
          <a:p>
            <a:pPr algn="ctr"/>
            <a:r>
              <a:rPr lang="en-US" sz="2800" dirty="0"/>
              <a:t>ROAD SAFETY AND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3F1F-135F-159C-C9FF-9FF369D02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75215"/>
            <a:ext cx="10515600" cy="2401008"/>
          </a:xfrm>
        </p:spPr>
        <p:txBody>
          <a:bodyPr/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PROBLEM IDENTIFICATION: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43CA2-01C1-A9BE-66BB-38324ADAC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199"/>
            <a:ext cx="10515600" cy="489176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dirty="0">
                <a:latin typeface="Times New Roman"/>
                <a:ea typeface="+mn-lt"/>
                <a:cs typeface="+mn-lt"/>
              </a:rPr>
              <a:t>School zones are highly vulnerable. Children’s unpredictable movements and fast-moving traffic make accidents likely, and static safety measures like speed breakers and signs cannot adapt in real-time.</a:t>
            </a:r>
            <a:endParaRPr lang="en-US" sz="36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3600" dirty="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latin typeface="Aptos"/>
                <a:ea typeface="+mn-lt"/>
                <a:cs typeface="+mn-lt"/>
              </a:rPr>
              <a:t>KEY AREAS:</a:t>
            </a:r>
          </a:p>
          <a:p>
            <a:r>
              <a:rPr lang="en-US" sz="2400" b="1" dirty="0">
                <a:ea typeface="+mn-lt"/>
                <a:cs typeface="+mn-lt"/>
              </a:rPr>
              <a:t>Vulnerable Zones:</a:t>
            </a:r>
            <a:r>
              <a:rPr lang="en-US" sz="2400" dirty="0">
                <a:ea typeface="+mn-lt"/>
                <a:cs typeface="+mn-lt"/>
              </a:rPr>
              <a:t> School areas are accident-prone due to heavy traffic and active children.</a:t>
            </a:r>
            <a:endParaRPr lang="en-US" dirty="0"/>
          </a:p>
          <a:p>
            <a:r>
              <a:rPr lang="en-US" sz="2400" b="1" dirty="0">
                <a:ea typeface="+mn-lt"/>
                <a:cs typeface="+mn-lt"/>
              </a:rPr>
              <a:t>Unpredictable Risk:</a:t>
            </a:r>
            <a:r>
              <a:rPr lang="en-US" sz="2400" dirty="0">
                <a:ea typeface="+mn-lt"/>
                <a:cs typeface="+mn-lt"/>
              </a:rPr>
              <a:t> Children’s movements are erratic, and traditional safety measures are static.</a:t>
            </a:r>
            <a:endParaRPr lang="en-US" dirty="0"/>
          </a:p>
          <a:p>
            <a:r>
              <a:rPr lang="en-US" sz="2400" b="1" dirty="0">
                <a:ea typeface="+mn-lt"/>
                <a:cs typeface="+mn-lt"/>
              </a:rPr>
              <a:t>Need for Real-Time Action:</a:t>
            </a:r>
            <a:r>
              <a:rPr lang="en-US" sz="2400" dirty="0">
                <a:ea typeface="+mn-lt"/>
                <a:cs typeface="+mn-lt"/>
              </a:rPr>
              <a:t> Traffic conditions change constantly, requiring dynamic, data-driven interventions.</a:t>
            </a:r>
            <a:endParaRPr lang="en-US" dirty="0"/>
          </a:p>
          <a:p>
            <a:endParaRPr lang="en-US" sz="2400" dirty="0">
              <a:latin typeface="Times New Roman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772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8E8D1-37BB-870C-B048-0227A1E77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/>
                <a:cs typeface="Times New Roman"/>
              </a:rPr>
              <a:t>Real-World </a:t>
            </a:r>
            <a:r>
              <a:rPr lang="en-US" sz="4000" b="1" dirty="0">
                <a:latin typeface="Times New Roman"/>
                <a:cs typeface="Times New Roman"/>
              </a:rPr>
              <a:t>Relevance</a:t>
            </a:r>
            <a:r>
              <a:rPr lang="en-US" sz="3600" b="1" dirty="0">
                <a:latin typeface="Times New Roman"/>
                <a:cs typeface="Times New Roman"/>
              </a:rPr>
              <a:t> &amp; Impact</a:t>
            </a:r>
            <a:endParaRPr lang="en-US" sz="36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AD5E9-029C-657E-F573-5988F210A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157"/>
            <a:ext cx="10515600" cy="469180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ea typeface="+mn-lt"/>
                <a:cs typeface="+mn-lt"/>
              </a:rPr>
              <a:t>Urban Planning Insight:</a:t>
            </a:r>
            <a:r>
              <a:rPr lang="en-US" dirty="0">
                <a:ea typeface="+mn-lt"/>
                <a:cs typeface="+mn-lt"/>
              </a:rPr>
              <a:t> AI-driven risk analysis helps planners redesign unsafe school zones proactively.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Dynamic Policy Support:</a:t>
            </a:r>
            <a:r>
              <a:rPr lang="en-US" dirty="0">
                <a:ea typeface="+mn-lt"/>
                <a:cs typeface="+mn-lt"/>
              </a:rPr>
              <a:t> Authorities can adjust traffic rules, speed limits, or deploy temporary safety measures during peak hours.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Community Awareness:</a:t>
            </a:r>
            <a:r>
              <a:rPr lang="en-US" dirty="0">
                <a:ea typeface="+mn-lt"/>
                <a:cs typeface="+mn-lt"/>
              </a:rPr>
              <a:t> Parents, teachers, and local drivers receive actionable alerts, fostering a culture of safety.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Scalable Solution:</a:t>
            </a:r>
            <a:r>
              <a:rPr lang="en-US" dirty="0">
                <a:ea typeface="+mn-lt"/>
                <a:cs typeface="+mn-lt"/>
              </a:rPr>
              <a:t> Once implemented, the system can be extended city-wide to protect children in all school zones.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Data-Driven Decisions:</a:t>
            </a:r>
            <a:r>
              <a:rPr lang="en-US" dirty="0">
                <a:ea typeface="+mn-lt"/>
                <a:cs typeface="+mn-lt"/>
              </a:rPr>
              <a:t> Historical and real-time data allow authorities to prioritize high-risk areas for infrastructure improvements.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77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F51DB-EC0A-87F2-B56E-25400206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3" y="-13173"/>
            <a:ext cx="10715557" cy="1390414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latin typeface="Times New Roman"/>
                <a:cs typeface="Times New Roman"/>
              </a:rPr>
              <a:t>Clear Definition of Inputs and Outputs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2A82F-DFDF-893C-609B-555044D26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3328"/>
            <a:ext cx="10515600" cy="498363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Inputs: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Vehicle Data:</a:t>
            </a:r>
            <a:r>
              <a:rPr lang="en-US" dirty="0">
                <a:ea typeface="+mn-lt"/>
                <a:cs typeface="+mn-lt"/>
              </a:rPr>
              <a:t> Speed, traffic density, and flow near school zones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Environmental Data:</a:t>
            </a:r>
            <a:r>
              <a:rPr lang="en-US" dirty="0">
                <a:ea typeface="+mn-lt"/>
                <a:cs typeface="+mn-lt"/>
              </a:rPr>
              <a:t> Weather conditions (rain, fog), time of day, road type, number of lanes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Historical Data:</a:t>
            </a:r>
            <a:r>
              <a:rPr lang="en-US" dirty="0">
                <a:ea typeface="+mn-lt"/>
                <a:cs typeface="+mn-lt"/>
              </a:rPr>
              <a:t> Past accidents, near-misses, and traffic violations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School Activity Data:</a:t>
            </a:r>
            <a:r>
              <a:rPr lang="en-US" dirty="0">
                <a:ea typeface="+mn-lt"/>
                <a:cs typeface="+mn-lt"/>
              </a:rPr>
              <a:t> Peak entry/exit times, pedestrian volume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Outputs: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Accident Risk Score:</a:t>
            </a:r>
            <a:r>
              <a:rPr lang="en-US" dirty="0">
                <a:ea typeface="+mn-lt"/>
                <a:cs typeface="+mn-lt"/>
              </a:rPr>
              <a:t> Numerical value (0–1) indicating the level of risk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Risk Category:</a:t>
            </a:r>
            <a:r>
              <a:rPr lang="en-US" dirty="0">
                <a:ea typeface="+mn-lt"/>
                <a:cs typeface="+mn-lt"/>
              </a:rPr>
              <a:t> Low / Medium / High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Safety Recommendations:</a:t>
            </a:r>
            <a:r>
              <a:rPr lang="en-US" dirty="0">
                <a:ea typeface="+mn-lt"/>
                <a:cs typeface="+mn-lt"/>
              </a:rPr>
              <a:t> Actionable steps such as speed reduction, alerts to drivers, temporary barriers, or increased monitoring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000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B801-06F5-FFF2-0627-A0D3465E7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2751"/>
            <a:ext cx="10515600" cy="1595193"/>
          </a:xfrm>
        </p:spPr>
        <p:txBody>
          <a:bodyPr/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9B0F4-6DF7-0CAD-8E67-00145C9B1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4303"/>
            <a:ext cx="10515600" cy="497266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DATASET SOURCES:</a:t>
            </a:r>
          </a:p>
          <a:p>
            <a:r>
              <a:rPr lang="en-US" b="1" dirty="0">
                <a:ea typeface="+mn-lt"/>
                <a:cs typeface="+mn-lt"/>
              </a:rPr>
              <a:t>Simulated Data:</a:t>
            </a:r>
            <a:r>
              <a:rPr lang="en-US" dirty="0">
                <a:ea typeface="+mn-lt"/>
                <a:cs typeface="+mn-lt"/>
              </a:rPr>
              <a:t> We create realistic traffic and school-zone scenarios with Python—ready to test AI in real-time.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Public Data:</a:t>
            </a:r>
            <a:r>
              <a:rPr lang="en-US" dirty="0">
                <a:ea typeface="+mn-lt"/>
                <a:cs typeface="+mn-lt"/>
              </a:rPr>
              <a:t> Historical accident stats, traffic flows, and weather info from open government datasets make our model smarter.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Private Data (Optional):</a:t>
            </a:r>
            <a:r>
              <a:rPr lang="en-US" dirty="0">
                <a:ea typeface="+mn-lt"/>
                <a:cs typeface="+mn-lt"/>
              </a:rPr>
              <a:t> Real-time sensors or CCTV can supercharge accuracy when available.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Why It Matters: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“Start small, test fast, scale smart.” Simulated data lets us demo instantly, while public or private datasets make the system ready for real-world deployment.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795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19697-381B-6960-122E-C3D89ADA5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173"/>
            <a:ext cx="10515600" cy="163360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Features &amp; Target Variable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731BF-1B41-0573-47F8-AAAD5452D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2775"/>
            <a:ext cx="10515600" cy="529708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Features (Inputs):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Vehicle speed and traffic density near the school zone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Time of day (school peak vs off-peak hours)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Weather conditions (rain, fog, clear)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Road type, number of lanes, and pedestrian crossings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School activity (number of children entering/exiting, pedestrian flow)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Target (Output):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Accident risk category: Low / Medium / High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Optional numerical risk score: 0–1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>
                <a:ea typeface="+mn-lt"/>
                <a:cs typeface="+mn-lt"/>
              </a:rPr>
              <a:t>“The features capture what’s happening on the road; the target </a:t>
            </a:r>
            <a:r>
              <a:rPr lang="en-US" dirty="0">
                <a:ea typeface="+mn-lt"/>
                <a:cs typeface="+mn-lt"/>
              </a:rPr>
              <a:t>predicts the danger so safety measures can act fast.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738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5998D-1805-A96F-FB3A-93F8F80E5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7470"/>
            <a:ext cx="10515600" cy="14876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Data Size and Format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04658-A812-6514-74FB-43454534A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5287"/>
            <a:ext cx="10515600" cy="52916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400" b="1" dirty="0">
              <a:latin typeface="Aptos"/>
              <a:cs typeface="Times New Roman"/>
            </a:endParaRPr>
          </a:p>
          <a:p>
            <a:r>
              <a:rPr lang="en-US" sz="2400" b="1" dirty="0">
                <a:ea typeface="+mn-lt"/>
                <a:cs typeface="+mn-lt"/>
              </a:rPr>
              <a:t>Data Size:</a:t>
            </a:r>
            <a:endParaRPr lang="en-US" sz="2400"/>
          </a:p>
          <a:p>
            <a:pPr lvl="1"/>
            <a:r>
              <a:rPr lang="en-US" dirty="0">
                <a:ea typeface="+mn-lt"/>
                <a:cs typeface="+mn-lt"/>
              </a:rPr>
              <a:t>For the prototype, we use </a:t>
            </a:r>
            <a:r>
              <a:rPr lang="en-US" b="1" dirty="0">
                <a:ea typeface="+mn-lt"/>
                <a:cs typeface="+mn-lt"/>
              </a:rPr>
              <a:t>simulated datasets of 100–500 records</a:t>
            </a:r>
            <a:r>
              <a:rPr lang="en-US" dirty="0">
                <a:ea typeface="+mn-lt"/>
                <a:cs typeface="+mn-lt"/>
              </a:rPr>
              <a:t> to represent different school zones, traffic conditions, and times of day.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Can scale to </a:t>
            </a:r>
            <a:r>
              <a:rPr lang="en-US" b="1" dirty="0">
                <a:ea typeface="+mn-lt"/>
                <a:cs typeface="+mn-lt"/>
              </a:rPr>
              <a:t>thousands of records</a:t>
            </a:r>
            <a:r>
              <a:rPr lang="en-US" dirty="0">
                <a:ea typeface="+mn-lt"/>
                <a:cs typeface="+mn-lt"/>
              </a:rPr>
              <a:t> when real-world or public datasets are integrated.</a:t>
            </a:r>
            <a:endParaRPr lang="en-US"/>
          </a:p>
          <a:p>
            <a:pPr lvl="1"/>
            <a:endParaRPr lang="en-US" dirty="0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Data Format:</a:t>
            </a:r>
            <a:endParaRPr lang="en-US" sz="2400"/>
          </a:p>
          <a:p>
            <a:pPr lvl="1"/>
            <a:r>
              <a:rPr lang="en-US" b="1" dirty="0">
                <a:ea typeface="+mn-lt"/>
                <a:cs typeface="+mn-lt"/>
              </a:rPr>
              <a:t>Tabular CSV/Excel</a:t>
            </a:r>
            <a:r>
              <a:rPr lang="en-US" dirty="0">
                <a:ea typeface="+mn-lt"/>
                <a:cs typeface="+mn-lt"/>
              </a:rPr>
              <a:t> format for easy processing in Python and </a:t>
            </a:r>
            <a:r>
              <a:rPr lang="en-US" err="1">
                <a:ea typeface="+mn-lt"/>
                <a:cs typeface="+mn-lt"/>
              </a:rPr>
              <a:t>Jupyter</a:t>
            </a:r>
            <a:r>
              <a:rPr lang="en-US" dirty="0">
                <a:ea typeface="+mn-lt"/>
                <a:cs typeface="+mn-lt"/>
              </a:rPr>
              <a:t> Notebook.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Columns include: vehicle speed, traffic density, time of day, weather, road type, school activity, and accident risk (target).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Suitable for both </a:t>
            </a:r>
            <a:r>
              <a:rPr lang="en-US" b="1" dirty="0">
                <a:ea typeface="+mn-lt"/>
                <a:cs typeface="+mn-lt"/>
              </a:rPr>
              <a:t>AI training</a:t>
            </a:r>
            <a:r>
              <a:rPr lang="en-US" dirty="0">
                <a:ea typeface="+mn-lt"/>
                <a:cs typeface="+mn-lt"/>
              </a:rPr>
              <a:t> and </a:t>
            </a:r>
            <a:r>
              <a:rPr lang="en-US" b="1" dirty="0">
                <a:ea typeface="+mn-lt"/>
                <a:cs typeface="+mn-lt"/>
              </a:rPr>
              <a:t>mathematical risk calculations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marL="457200" lvl="1" indent="0" algn="ctr">
              <a:buNone/>
            </a:pPr>
            <a:r>
              <a:rPr lang="en-US" dirty="0">
                <a:ea typeface="+mn-lt"/>
                <a:cs typeface="+mn-lt"/>
              </a:rPr>
              <a:t> “Small dataset to start, scalable for the real world; easy to process, ready for AI.”</a:t>
            </a:r>
            <a:endParaRPr lang="en-US"/>
          </a:p>
          <a:p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9307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79AE-BCF0-5457-1D9C-F27C1257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772"/>
            <a:ext cx="10515600" cy="120247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Data Preprocessing Plan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C7C3F-B3B2-EC23-EB74-C3B6BB050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195"/>
            <a:ext cx="10515600" cy="559984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1. Handling Missing Values: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Fill missing numeric values with mean/median.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Fill missing categorical values with mode or “Unknown.”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2. Outlier Detection: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 Z-score or IQR to identify extreme values.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Decide to remove or cap outliers to prevent bias.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3. Feature Scaling / Encoding: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Scale numeric features (speed, traffic density) using Min-Max or </a:t>
            </a:r>
            <a:r>
              <a:rPr lang="en-US" dirty="0" err="1">
                <a:ea typeface="+mn-lt"/>
                <a:cs typeface="+mn-lt"/>
              </a:rPr>
              <a:t>StandardScaler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Encode categorical features (weather, road type) using One-Hot Encoding or Label Encoding.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4. Data Splitting Strategy: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Split dataset into </a:t>
            </a:r>
            <a:r>
              <a:rPr lang="en-US" b="1" dirty="0">
                <a:ea typeface="+mn-lt"/>
                <a:cs typeface="+mn-lt"/>
              </a:rPr>
              <a:t>train (70%)</a:t>
            </a:r>
            <a:r>
              <a:rPr lang="en-US" dirty="0">
                <a:ea typeface="+mn-lt"/>
                <a:cs typeface="+mn-lt"/>
              </a:rPr>
              <a:t> and </a:t>
            </a:r>
            <a:r>
              <a:rPr lang="en-US" b="1" dirty="0">
                <a:ea typeface="+mn-lt"/>
                <a:cs typeface="+mn-lt"/>
              </a:rPr>
              <a:t>test (30%)</a:t>
            </a:r>
            <a:r>
              <a:rPr lang="en-US" dirty="0">
                <a:ea typeface="+mn-lt"/>
                <a:cs typeface="+mn-lt"/>
              </a:rPr>
              <a:t> sets.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Optionally use </a:t>
            </a:r>
            <a:r>
              <a:rPr lang="en-US" b="1" dirty="0">
                <a:ea typeface="+mn-lt"/>
                <a:cs typeface="+mn-lt"/>
              </a:rPr>
              <a:t>validation set (10–15%)</a:t>
            </a:r>
            <a:r>
              <a:rPr lang="en-US" dirty="0">
                <a:ea typeface="+mn-lt"/>
                <a:cs typeface="+mn-lt"/>
              </a:rPr>
              <a:t> for hyperparameter tuning.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“Clean, scale, encode, and split—ready to feed AI safely and reliably!”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685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991E-83E2-B5FF-65C3-EDBBAC06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>
                <a:latin typeface="Times New Roman"/>
                <a:cs typeface="Times New Roman"/>
              </a:rPr>
              <a:t>Chosen Technique &amp; Problem Type</a:t>
            </a:r>
            <a:endParaRPr lang="en-US" sz="32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56077-EBC8-6843-69EF-6F900B4F9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 Chosen Technique &amp; Problem Type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Chosen AI / ML Technique: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Random Forest Classifier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Mathematical Risk Scoring Model (Baseline)</a:t>
            </a:r>
            <a:endParaRPr lang="en-US" dirty="0"/>
          </a:p>
          <a:p>
            <a:endParaRPr lang="en-US" b="1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3200" b="1" dirty="0">
                <a:latin typeface="Times New Roman"/>
                <a:ea typeface="+mn-lt"/>
                <a:cs typeface="+mn-lt"/>
              </a:rPr>
              <a:t>Problem Type:</a:t>
            </a:r>
            <a:endParaRPr lang="en-US" sz="3200" dirty="0">
              <a:latin typeface="Times New Roman"/>
            </a:endParaRPr>
          </a:p>
          <a:p>
            <a:r>
              <a:rPr lang="en-US" b="1" dirty="0">
                <a:ea typeface="+mn-lt"/>
                <a:cs typeface="+mn-lt"/>
              </a:rPr>
              <a:t>Classification Problem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Output: </a:t>
            </a:r>
            <a:r>
              <a:rPr lang="en-US" b="1" dirty="0">
                <a:ea typeface="+mn-lt"/>
                <a:cs typeface="+mn-lt"/>
              </a:rPr>
              <a:t>Low / Medium / High Accident Risk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Prediction using a </a:t>
            </a:r>
            <a:r>
              <a:rPr lang="en-US" b="1" dirty="0">
                <a:ea typeface="+mn-lt"/>
                <a:cs typeface="+mn-lt"/>
              </a:rPr>
              <a:t>0–1 numerical risk score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Why This Matters: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Designed to predict risk </a:t>
            </a:r>
            <a:r>
              <a:rPr lang="en-US" b="1" dirty="0">
                <a:ea typeface="+mn-lt"/>
                <a:cs typeface="+mn-lt"/>
              </a:rPr>
              <a:t>before accidents occur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2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51F0C-7379-F019-8447-47A9B3451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/>
                <a:cs typeface="Times New Roman"/>
              </a:rPr>
              <a:t>Justification for Model Selection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58557-2F9A-A983-0599-5F9636A0F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dirty="0">
                <a:ea typeface="+mn-lt"/>
                <a:cs typeface="+mn-lt"/>
              </a:rPr>
              <a:t>Handles </a:t>
            </a:r>
            <a:r>
              <a:rPr lang="en-US" b="1" dirty="0">
                <a:ea typeface="+mn-lt"/>
                <a:cs typeface="+mn-lt"/>
              </a:rPr>
              <a:t>mixed features</a:t>
            </a:r>
            <a:r>
              <a:rPr lang="en-US" dirty="0">
                <a:ea typeface="+mn-lt"/>
                <a:cs typeface="+mn-lt"/>
              </a:rPr>
              <a:t> (speed, traffic, weather, time).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Works well with </a:t>
            </a:r>
            <a:r>
              <a:rPr lang="en-US" b="1" dirty="0">
                <a:ea typeface="+mn-lt"/>
                <a:cs typeface="+mn-lt"/>
              </a:rPr>
              <a:t>small to medium datasets</a:t>
            </a:r>
            <a:r>
              <a:rPr lang="en-US" dirty="0">
                <a:ea typeface="+mn-lt"/>
                <a:cs typeface="+mn-lt"/>
              </a:rPr>
              <a:t> (ideal for hackathons).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Reduces overfitting</a:t>
            </a:r>
            <a:r>
              <a:rPr lang="en-US" dirty="0">
                <a:ea typeface="+mn-lt"/>
                <a:cs typeface="+mn-lt"/>
              </a:rPr>
              <a:t> and gives stable results.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Explainable and interpretable</a:t>
            </a:r>
            <a:r>
              <a:rPr lang="en-US" dirty="0">
                <a:ea typeface="+mn-lt"/>
                <a:cs typeface="+mn-lt"/>
              </a:rPr>
              <a:t>, easy to justify to stakeholders.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Mathematical risk scoring improves </a:t>
            </a:r>
            <a:r>
              <a:rPr lang="en-US" b="1" dirty="0">
                <a:ea typeface="+mn-lt"/>
                <a:cs typeface="+mn-lt"/>
              </a:rPr>
              <a:t>trust and transparency</a:t>
            </a:r>
            <a:r>
              <a:rPr lang="en-US" dirty="0">
                <a:ea typeface="+mn-lt"/>
                <a:cs typeface="+mn-lt"/>
              </a:rPr>
              <a:t> in AI decisions.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Catchy Line: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“Smart enough to predict risk, simple enough to explain safety.”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33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29A0-417B-9035-DADF-97E2EDD4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Review-1 Summary: Problem Understanding &amp; Approach Design</a:t>
            </a:r>
            <a:endParaRPr lang="en-US" sz="28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770D8-E1BA-BE7D-4BE4-38D5B1F06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115"/>
            <a:ext cx="10515600" cy="517278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ea typeface="+mn-lt"/>
                <a:cs typeface="+mn-lt"/>
              </a:rPr>
              <a:t>What Problem Are We Solving?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Predicting </a:t>
            </a:r>
            <a:r>
              <a:rPr lang="en-US" b="1" dirty="0">
                <a:ea typeface="+mn-lt"/>
                <a:cs typeface="+mn-lt"/>
              </a:rPr>
              <a:t>accident risk around school zones</a:t>
            </a:r>
            <a:r>
              <a:rPr lang="en-US" dirty="0">
                <a:ea typeface="+mn-lt"/>
                <a:cs typeface="+mn-lt"/>
              </a:rPr>
              <a:t> using AI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Addressing </a:t>
            </a:r>
            <a:r>
              <a:rPr lang="en-US" b="1" dirty="0">
                <a:ea typeface="+mn-lt"/>
                <a:cs typeface="+mn-lt"/>
              </a:rPr>
              <a:t>dynamic traffic risks</a:t>
            </a:r>
            <a:r>
              <a:rPr lang="en-US" dirty="0">
                <a:ea typeface="+mn-lt"/>
                <a:cs typeface="+mn-lt"/>
              </a:rPr>
              <a:t> that static safety measures cannot handle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How Will We Solve It?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Collect traffic, environmental, and historical data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Preprocess data for quality and reliability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Apply </a:t>
            </a:r>
            <a:r>
              <a:rPr lang="en-US" b="1" dirty="0">
                <a:ea typeface="+mn-lt"/>
                <a:cs typeface="+mn-lt"/>
              </a:rPr>
              <a:t>explainable AI (Random Forest + risk scoring)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Output </a:t>
            </a:r>
            <a:r>
              <a:rPr lang="en-US" b="1" dirty="0">
                <a:ea typeface="+mn-lt"/>
                <a:cs typeface="+mn-lt"/>
              </a:rPr>
              <a:t>risk levels and safety recommendations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626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D9B707-AA3F-00C3-C156-460419FBC363}"/>
              </a:ext>
            </a:extLst>
          </p:cNvPr>
          <p:cNvSpPr txBox="1"/>
          <p:nvPr/>
        </p:nvSpPr>
        <p:spPr>
          <a:xfrm>
            <a:off x="1396999" y="2182090"/>
            <a:ext cx="928254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/>
              <a:t>THANKYOU</a:t>
            </a:r>
            <a:endParaRPr lang="en-US" b="1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585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KL UNIVERSITY (ALGOMATH-DATATHON) 2026</vt:lpstr>
      <vt:lpstr>PROBLEM IDENTIFICATION:</vt:lpstr>
      <vt:lpstr>Real-World Relevance &amp; Impact</vt:lpstr>
      <vt:lpstr>Clear Definition of Inputs and Outputs</vt:lpstr>
      <vt:lpstr>DATA COLLECTION</vt:lpstr>
      <vt:lpstr>Features &amp; Target Variable</vt:lpstr>
      <vt:lpstr>Data Size and Format</vt:lpstr>
      <vt:lpstr>Data Preprocessing Plan</vt:lpstr>
      <vt:lpstr>Chosen Technique &amp; Problem Type</vt:lpstr>
      <vt:lpstr>Justification for Model Selection</vt:lpstr>
      <vt:lpstr>Review-1 Summary: Problem Understanding &amp; Approach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157</cp:revision>
  <dcterms:created xsi:type="dcterms:W3CDTF">2026-02-07T04:42:06Z</dcterms:created>
  <dcterms:modified xsi:type="dcterms:W3CDTF">2026-02-07T06:38:39Z</dcterms:modified>
</cp:coreProperties>
</file>